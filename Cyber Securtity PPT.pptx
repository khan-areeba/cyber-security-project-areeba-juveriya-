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LAW COMMITTEE  |  ACADEMIC PROJECT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2860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CYBERSECURITY LAW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Legal Framework for the Digital Protection of VIT's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160520"/>
            <a:ext cx="914" cy="914"/>
          </a:xfrm>
          <a:prstGeom prst="rect">
            <a:avLst/>
          </a:prstGeom>
          <a:noFill/>
          <a:ln/>
        </p:spPr>
      </p:sp>
      <p:sp>
        <p:nvSpPr>
          <p:cNvPr id="9" name="Shape 6"/>
          <p:cNvSpPr/>
          <p:nvPr/>
        </p:nvSpPr>
        <p:spPr>
          <a:xfrm>
            <a:off x="822960" y="4572000"/>
            <a:ext cx="10058400" cy="1554480"/>
          </a:xfrm>
          <a:prstGeom prst="roundRect">
            <a:avLst>
              <a:gd name="adj" fmla="val 4706"/>
            </a:avLst>
          </a:prstGeom>
          <a:solidFill>
            <a:srgbClr val="13294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97280" y="4736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97280" y="50292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Areeba Ashfaque Ahmed Khan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" y="5349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25102C2009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0" y="50292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Juveriya Mohd. Shuaib Khan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943600" y="5349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25101C2002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2960" y="6355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Cybersecurity Law &amp; Policy   |   VIT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Need for the Law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132588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VIT's has over 50 million internet users relying on online banking, e-commerce, cloud platforms, smart-city infrastructure, and AI public services — creating both opportunity and exposure.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2514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FACED BY VIT'S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2953512"/>
            <a:ext cx="91440" cy="914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breaches of citizens' personal information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364992"/>
            <a:ext cx="91440" cy="914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attacks on hospitals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776472"/>
            <a:ext cx="91440" cy="914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cyber fraud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4187952"/>
            <a:ext cx="91440" cy="914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theft &amp; hacked accounts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4599432"/>
            <a:ext cx="91440" cy="914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on social media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5010912"/>
            <a:ext cx="91440" cy="9144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4937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Cyberbullying and harassment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675120" y="1325880"/>
            <a:ext cx="5029200" cy="4754880"/>
          </a:xfrm>
          <a:prstGeom prst="roundRect">
            <a:avLst>
              <a:gd name="adj" fmla="val 1538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600200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6352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THE LAW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995160" y="2286000"/>
            <a:ext cx="4434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safe digital environment for all citizens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personal data and prevent cybercrime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 critical national infrastructure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responsible &amp; safe technology use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enforcement, compliance &amp; penalties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99516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995160" y="4617720"/>
            <a:ext cx="4434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underpins national security, economic stability, and public trust — protecting critical services, revenue, and sensitive data as VIT's digital reliance grows.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Cybersecurity Law of VIT's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Definitions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7512" y="1463040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67512" y="1755648"/>
            <a:ext cx="3328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activity targeting or using a computer/network to commit an offense.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0" y="137160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62272" y="1463040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462272" y="1755648"/>
            <a:ext cx="3328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designed to damage, disrupt, or gain unauthorized access to systems.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092440" y="137160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57032" y="1463040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57032" y="1755648"/>
            <a:ext cx="3328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victim data and demands payment for its release.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265176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67512" y="2743200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67512" y="3035808"/>
            <a:ext cx="3328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trusted entities to trick victims into revealing data.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297680" y="265176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462272" y="2743200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62272" y="3035808"/>
            <a:ext cx="3328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access, theft, or leak of sensitive/protected data.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092440" y="265176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257032" y="2743200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257032" y="3035808"/>
            <a:ext cx="3328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information that can identify a living individual.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2920" y="393192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67512" y="4023360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67512" y="4315968"/>
            <a:ext cx="3328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scheme verifying authenticity &amp; integrity of a message.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97680" y="393192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462272" y="4023360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462272" y="4315968"/>
            <a:ext cx="3328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or manipulated synthetic media (audio/video/image).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092440" y="393192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257032" y="4023360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8257032" y="4315968"/>
            <a:ext cx="3328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Scrambling readable data into unreadable ciphertext.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920" y="521208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67512" y="5303520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Exploit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667512" y="5596128"/>
            <a:ext cx="3328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on a vulnerability unknown to vendors, with no patch yet.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297680" y="521208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4462272" y="5303520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Infrastructure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4462272" y="5596128"/>
            <a:ext cx="3328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vital to national security, economy, health &amp; safety.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092440" y="521208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8257032" y="5303520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Theft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8257032" y="5596128"/>
            <a:ext cx="3328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use of personal information to commit fraud.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Cybersecurity Law of VIT's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Citizens' Digital Rights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67512" y="1581912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4"/>
          <p:cNvSpPr/>
          <p:nvPr/>
        </p:nvSpPr>
        <p:spPr>
          <a:xfrm>
            <a:off x="667512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2039112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Privacy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7512" y="2514600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collection/processing of personal data without legal basis &amp; consent.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0128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1581912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74720" y="2039112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Secure Data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0" y="2514600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must use encryption, MFA &amp; audits to protect citizen data.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17336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81928" y="1581912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4"/>
          <p:cNvSpPr/>
          <p:nvPr/>
        </p:nvSpPr>
        <p:spPr>
          <a:xfrm>
            <a:off x="6281928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81928" y="2039112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Data Deletion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81928" y="2514600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may request full data deletion ("Right to Be Forgotten").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924544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089136" y="1581912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19"/>
          <p:cNvSpPr/>
          <p:nvPr/>
        </p:nvSpPr>
        <p:spPr>
          <a:xfrm>
            <a:off x="9089136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089136" y="2039112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Information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089136" y="2514600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can know what data is collected, why, and with whom shared.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2920" y="3730752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67512" y="3895344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7" name="Text 24"/>
          <p:cNvSpPr/>
          <p:nvPr/>
        </p:nvSpPr>
        <p:spPr>
          <a:xfrm>
            <a:off x="667512" y="3895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67512" y="4352544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Report Cybercrime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67512" y="4828032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crimes 24/7 without fear of retaliation; acknowledgment in 24 hrs.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310128" y="3730752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474720" y="3895344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2" name="Text 29"/>
          <p:cNvSpPr/>
          <p:nvPr/>
        </p:nvSpPr>
        <p:spPr>
          <a:xfrm>
            <a:off x="3474720" y="3895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3474720" y="4352544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Fair Investigation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474720" y="4828032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Presumption of innocence; access only via lawful authority.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117336" y="3730752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281928" y="3895344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7" name="Text 34"/>
          <p:cNvSpPr/>
          <p:nvPr/>
        </p:nvSpPr>
        <p:spPr>
          <a:xfrm>
            <a:off x="6281928" y="3895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281928" y="4352544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Digital Consent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281928" y="4828032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informed, revocable consent before data processing.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924544" y="3730752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9089136" y="3895344"/>
            <a:ext cx="384048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2" name="Text 39"/>
          <p:cNvSpPr/>
          <p:nvPr/>
        </p:nvSpPr>
        <p:spPr>
          <a:xfrm>
            <a:off x="9089136" y="3895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9089136" y="4352544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Child Protection Online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9089136" y="4828032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safeguards, parental consent &amp; anti-grooming rules for minors.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Cybersecurity Law of VIT's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Offenses &amp; Penalties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4937760"/>
        </p:xfrm>
        <a:graphic>
          <a:graphicData uri="http://schemas.openxmlformats.org/drawingml/2006/table">
            <a:tbl>
              <a:tblPr/>
              <a:tblGrid>
                <a:gridCol w="5669280"/>
                <a:gridCol w="2743200"/>
                <a:gridCol w="2743200"/>
              </a:tblGrid>
              <a:tr h="379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Offense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Imprisonment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79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</a:rPr>
                        <a:t>Unauthorized Access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</a:rPr>
                        <a:t>3–5 yrs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66"/>
                          </a:solidFill>
                        </a:rPr>
                        <a:t>₹500,000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</a:rPr>
                        <a:t>Data Theft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</a:rPr>
                        <a:t>5–8 yrs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66"/>
                          </a:solidFill>
                        </a:rPr>
                        <a:t>₹1,500,000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79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</a:rPr>
                        <a:t>Identity Theft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</a:rPr>
                        <a:t>4–7 yrs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66"/>
                          </a:solidFill>
                        </a:rPr>
                        <a:t>₹1,000,000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</a:rPr>
                        <a:t>Phishing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</a:rPr>
                        <a:t>3–6 yrs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66"/>
                          </a:solidFill>
                        </a:rPr>
                        <a:t>₹750,000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79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</a:rPr>
                        <a:t>Ransomware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</a:rPr>
                        <a:t>8–15 yrs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66"/>
                          </a:solidFill>
                        </a:rPr>
                        <a:t>₹5,000,000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</a:rPr>
                        <a:t>Malware Distribution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</a:rPr>
                        <a:t>5–10 yrs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66"/>
                          </a:solidFill>
                        </a:rPr>
                        <a:t>₹2,000,000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79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</a:rPr>
                        <a:t>Cyberbullying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</a:rPr>
                        <a:t>Up to 3 yrs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66"/>
                          </a:solidFill>
                        </a:rPr>
                        <a:t>₹300,000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</a:rPr>
                        <a:t>Online Harassment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</a:rPr>
                        <a:t>2–5 yrs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66"/>
                          </a:solidFill>
                        </a:rPr>
                        <a:t>₹500,000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79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</a:rPr>
                        <a:t>Financial Fraud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</a:rPr>
                        <a:t>7–12 yrs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66"/>
                          </a:solidFill>
                        </a:rPr>
                        <a:t>₹3,000,000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</a:rPr>
                        <a:t>Misinformation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</a:rPr>
                        <a:t>2–5 yrs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66"/>
                          </a:solidFill>
                        </a:rPr>
                        <a:t>₹1,000,000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79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</a:rPr>
                        <a:t>Website Defacement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</a:rPr>
                        <a:t>4–8 yrs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66"/>
                          </a:solidFill>
                        </a:rPr>
                        <a:t>₹1,500,000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1"/>
                          </a:solidFill>
                        </a:rPr>
                        <a:t>Cyber Terrorism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3261E"/>
                          </a:solidFill>
                        </a:rPr>
                        <a:t>15–25 yrs / Life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7C66"/>
                          </a:solidFill>
                        </a:rPr>
                        <a:t>₹10,000,000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Cybersecurity Law of VIT's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 Framework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7512" y="1545336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7512" y="1947672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7512" y="2313432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Lawful, minimal &amp; purpose-limited; sensitive data needs explicit consent.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10128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74720" y="1545336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474720" y="1947672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74720" y="2313432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firewalls, access controls; audit logs kept 2+ years.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17336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81928" y="1545336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81928" y="1947672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81928" y="2313432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only when necessary, contractual &amp; encrypted.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924544" y="141732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089136" y="1545336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089136" y="1947672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089136" y="2313432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revocable consent; parental consent under age 18.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" y="3730752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67512" y="385876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67512" y="4261104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67512" y="4626864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 by category — e.g. financial 7 yrs, medical 10 yrs.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310128" y="3730752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474720" y="385876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474720" y="4261104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474720" y="4626864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requests honored within 30 days, fully purged.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117336" y="3730752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281928" y="385876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281928" y="4261104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Notification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281928" y="4626864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NCSA notified within 72 hours; citizens informed if at risk.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924544" y="3730752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9089136" y="3858768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089136" y="4261104"/>
            <a:ext cx="2368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9089136" y="4626864"/>
            <a:ext cx="236829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NCSA audits; penalties up to license revocation &amp; criminal liability.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Cybersecurity Law of VIT's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Responsibilities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490472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490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325880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&amp; Privacy Compliance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32588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1490472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8"/>
          <p:cNvSpPr/>
          <p:nvPr/>
        </p:nvSpPr>
        <p:spPr>
          <a:xfrm>
            <a:off x="6355080" y="1490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03720" y="1325880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of Sensitive Data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2157984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" y="2322576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3225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215798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(MFA)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17920" y="2157984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55080" y="2322576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6"/>
          <p:cNvSpPr/>
          <p:nvPr/>
        </p:nvSpPr>
        <p:spPr>
          <a:xfrm>
            <a:off x="6355080" y="23225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903720" y="215798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Security Audits (Annual)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02920" y="2990088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" y="315468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3154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88720" y="2990088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Cybersecurity Training (2x/yr)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217920" y="2990088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355080" y="315468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7" name="Text 24"/>
          <p:cNvSpPr/>
          <p:nvPr/>
        </p:nvSpPr>
        <p:spPr>
          <a:xfrm>
            <a:off x="6355080" y="3154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903720" y="2990088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Reporting Within 72 Hours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02920" y="3822192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3986784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" y="39867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188720" y="3822192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of a Data Protection Officer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217920" y="3822192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355080" y="3986784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5" name="Text 32"/>
          <p:cNvSpPr/>
          <p:nvPr/>
        </p:nvSpPr>
        <p:spPr>
          <a:xfrm>
            <a:off x="6355080" y="39867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903720" y="3822192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Penetration Testing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502920" y="4654296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0080" y="4818888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9" name="Text 36"/>
          <p:cNvSpPr/>
          <p:nvPr/>
        </p:nvSpPr>
        <p:spPr>
          <a:xfrm>
            <a:off x="640080" y="4818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1188720" y="4654296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&amp; Least Privilege Policy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6217920" y="4654296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355080" y="4818888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3" name="Text 40"/>
          <p:cNvSpPr/>
          <p:nvPr/>
        </p:nvSpPr>
        <p:spPr>
          <a:xfrm>
            <a:off x="6355080" y="4818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6903720" y="4654296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&amp; Continuity Planning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502920" y="548640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40080" y="5650992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7" name="Text 44"/>
          <p:cNvSpPr/>
          <p:nvPr/>
        </p:nvSpPr>
        <p:spPr>
          <a:xfrm>
            <a:off x="640080" y="56509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1188720" y="5486400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Backup &amp; Recovery Systems</a:t>
            </a:r>
            <a:endParaRPr lang="en-US" sz="1250" dirty="0"/>
          </a:p>
        </p:txBody>
      </p:sp>
      <p:sp>
        <p:nvSpPr>
          <p:cNvPr id="49" name="Text 4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Cybersecurity Law of VIT's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Responsibilities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5361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Infrastructure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2029968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secure critical sectors: power, water, health, banks, transport, telecom, e-governance, emergency services.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80560" y="15361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Threats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480560" y="2029968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National Cyber Threat Monitoring Center using SIEM, AI detection &amp; IDPS.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9244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75320" y="15361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Cybercrimes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75320" y="2029968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units following: complaint → investigation → warrant → evidence → referral.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38679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Coordination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85800" y="4361688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INTERPOL, Regional CERTs &amp; global alliances on cross-border crime.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9768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480560" y="38679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Programs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480560" y="4361688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curricula, public campaigns, National Cybersecurity Awareness Month.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9244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275320" y="38679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&amp; Accountability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275320" y="4361688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NCSA issues Annual National Cybersecurity Report to Parliament.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Cybersecurity Law of VIT's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Incident Reporting Framework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301714" y="2468880"/>
            <a:ext cx="9585525" cy="0"/>
          </a:xfrm>
          <a:prstGeom prst="line">
            <a:avLst/>
          </a:prstGeom>
          <a:noFill/>
          <a:ln w="25400">
            <a:solidFill>
              <a:srgbClr val="C9D4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5954" y="210312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4"/>
          <p:cNvSpPr/>
          <p:nvPr/>
        </p:nvSpPr>
        <p:spPr>
          <a:xfrm>
            <a:off x="935954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88482" y="29718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8482" y="347472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critical incidents within 1 hour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33541" y="2103120"/>
            <a:ext cx="731520" cy="73152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1" name="Text 8"/>
          <p:cNvSpPr/>
          <p:nvPr/>
        </p:nvSpPr>
        <p:spPr>
          <a:xfrm>
            <a:off x="2533541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186069" y="29718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Investigation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186069" y="347472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secured; assessed within 24 hours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131129" y="210312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5" name="Text 12"/>
          <p:cNvSpPr/>
          <p:nvPr/>
        </p:nvSpPr>
        <p:spPr>
          <a:xfrm>
            <a:off x="4131129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783657" y="29718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 NCSA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783657" y="347472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notification within 72 hours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28716" y="2103120"/>
            <a:ext cx="731520" cy="73152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9" name="Text 16"/>
          <p:cNvSpPr/>
          <p:nvPr/>
        </p:nvSpPr>
        <p:spPr>
          <a:xfrm>
            <a:off x="5728716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381244" y="29718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81244" y="347472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NCSA evaluates scope &amp; impact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326303" y="210312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3" name="Text 20"/>
          <p:cNvSpPr/>
          <p:nvPr/>
        </p:nvSpPr>
        <p:spPr>
          <a:xfrm>
            <a:off x="7326303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978831" y="29718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978831" y="347472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Containment: isolate, patch, block traffic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923891" y="2103120"/>
            <a:ext cx="731520" cy="73152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7" name="Text 24"/>
          <p:cNvSpPr/>
          <p:nvPr/>
        </p:nvSpPr>
        <p:spPr>
          <a:xfrm>
            <a:off x="8923891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576419" y="29718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576419" y="347472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via tested backups; notify citizens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0521478" y="2103120"/>
            <a:ext cx="731520" cy="7315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1" name="Text 28"/>
          <p:cNvSpPr/>
          <p:nvPr/>
        </p:nvSpPr>
        <p:spPr>
          <a:xfrm>
            <a:off x="10521478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10174006" y="297180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174006" y="347472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NCSA within 30 days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02920" y="457200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777240" y="480060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ORGANIZATIONS detect, preserve evidence &amp; mitigate  |  NCSA assesses risk, advises &amp; coordinates response  |  LAW ENFORCEMENT investigates, gathers forensics &amp; prosecutes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Cybersecurity Law of VIT's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Cyber Security Authority (NCSA)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132588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authority under the Ministry of Digital Security, led by a Director General appointed for a 5-year term, with regulatory, investigative, operational &amp; advisory powers.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HIERARCHY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2542032"/>
            <a:ext cx="5212080" cy="420624"/>
          </a:xfrm>
          <a:prstGeom prst="rect">
            <a:avLst>
              <a:gd name="adj" fmla="val 8696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542032"/>
            <a:ext cx="4846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General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" y="3044952"/>
            <a:ext cx="5102352" cy="420624"/>
          </a:xfrm>
          <a:prstGeom prst="rect">
            <a:avLst>
              <a:gd name="adj" fmla="val 8696"/>
            </a:avLst>
          </a:prstGeom>
          <a:solidFill>
            <a:srgbClr val="F4F7FB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" y="3044952"/>
            <a:ext cx="47365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DG – Operations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22376" y="3547872"/>
            <a:ext cx="4992624" cy="420624"/>
          </a:xfrm>
          <a:prstGeom prst="rect">
            <a:avLst>
              <a:gd name="adj" fmla="val 8696"/>
            </a:avLst>
          </a:prstGeom>
          <a:solidFill>
            <a:srgbClr val="F4F7FB"/>
          </a:solidFill>
          <a:ln/>
        </p:spPr>
      </p:sp>
      <p:sp>
        <p:nvSpPr>
          <p:cNvPr id="12" name="Text 9"/>
          <p:cNvSpPr/>
          <p:nvPr/>
        </p:nvSpPr>
        <p:spPr>
          <a:xfrm>
            <a:off x="905256" y="3547872"/>
            <a:ext cx="4626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DG – Investigations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2104" y="4050792"/>
            <a:ext cx="4882896" cy="420624"/>
          </a:xfrm>
          <a:prstGeom prst="rect">
            <a:avLst>
              <a:gd name="adj" fmla="val 8696"/>
            </a:avLst>
          </a:prstGeom>
          <a:solidFill>
            <a:srgbClr val="F4F7FB"/>
          </a:solidFill>
          <a:ln/>
        </p:spPr>
      </p:sp>
      <p:sp>
        <p:nvSpPr>
          <p:cNvPr id="14" name="Text 11"/>
          <p:cNvSpPr/>
          <p:nvPr/>
        </p:nvSpPr>
        <p:spPr>
          <a:xfrm>
            <a:off x="1014984" y="4050792"/>
            <a:ext cx="45171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DG – Compliance &amp; Regulation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41832" y="4553712"/>
            <a:ext cx="4773168" cy="420624"/>
          </a:xfrm>
          <a:prstGeom prst="rect">
            <a:avLst>
              <a:gd name="adj" fmla="val 8696"/>
            </a:avLst>
          </a:prstGeom>
          <a:solidFill>
            <a:srgbClr val="F4F7FB"/>
          </a:solidFill>
          <a:ln/>
        </p:spPr>
      </p:sp>
      <p:sp>
        <p:nvSpPr>
          <p:cNvPr id="16" name="Text 13"/>
          <p:cNvSpPr/>
          <p:nvPr/>
        </p:nvSpPr>
        <p:spPr>
          <a:xfrm>
            <a:off x="1124712" y="4553712"/>
            <a:ext cx="44074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DG – Public Awareness &amp; Education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0" y="132588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5448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69480" y="16276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DEPARTMENTS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675120" y="2221992"/>
            <a:ext cx="82296" cy="82296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1" name="Text 17"/>
          <p:cNvSpPr/>
          <p:nvPr/>
        </p:nvSpPr>
        <p:spPr>
          <a:xfrm>
            <a:off x="685800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Unit (TIU)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675120" y="2724912"/>
            <a:ext cx="82296" cy="82296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0" y="2651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Incident Response Team (NIRT)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675120" y="3227832"/>
            <a:ext cx="82296" cy="82296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5" name="Text 21"/>
          <p:cNvSpPr/>
          <p:nvPr/>
        </p:nvSpPr>
        <p:spPr>
          <a:xfrm>
            <a:off x="6858000" y="3154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 Laboratory (DFL)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675120" y="3730752"/>
            <a:ext cx="82296" cy="82296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7" name="Text 23"/>
          <p:cNvSpPr/>
          <p:nvPr/>
        </p:nvSpPr>
        <p:spPr>
          <a:xfrm>
            <a:off x="6858000" y="36576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 Department (CAD)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675120" y="4233672"/>
            <a:ext cx="82296" cy="82296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9" name="Text 25"/>
          <p:cNvSpPr/>
          <p:nvPr/>
        </p:nvSpPr>
        <p:spPr>
          <a:xfrm>
            <a:off x="685800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Awareness &amp; Education Division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675120" y="4736592"/>
            <a:ext cx="82296" cy="82296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1" name="Text 27"/>
          <p:cNvSpPr/>
          <p:nvPr/>
        </p:nvSpPr>
        <p:spPr>
          <a:xfrm>
            <a:off x="6858000" y="4663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Infrastructure Protection Division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675120" y="5239512"/>
            <a:ext cx="82296" cy="82296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3" name="Text 29"/>
          <p:cNvSpPr/>
          <p:nvPr/>
        </p:nvSpPr>
        <p:spPr>
          <a:xfrm>
            <a:off x="6858000" y="5166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Cooperation Office (ICO)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Cybersecurity Law of VIT's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Emerging Technology Regulations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5361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2029968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audits, documentation, anti-poisoning rules; fines up to ₹5,000,000.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80560" y="15361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480560" y="2029968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AI watermarking; malicious deepfakes banned; 24-hr takedown.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9244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75320" y="15361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75320" y="2029968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credentials, 5-yr security updates, certification for critical devices.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38679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85800" y="4361688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rest/transit, 72-hr incident reporting, NCSA clearance for cross-border transfer.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9768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480560" y="38679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Identity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480560" y="4361688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mandatory, biometric encryption separated from personal data.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9244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275320" y="38679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Systems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275320" y="4361688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certification, manual override, 24-hr incident reporting.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Cybersecurity Law of VIT's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Infrastructure Protection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5361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&amp; Financial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2029968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end-to-end encryption, fraud detection, 24-hr disaster recovery.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80560" y="15361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&amp; Healthcare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480560" y="2029968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EHRs, certified medical devices, offline backups.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9244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75320" y="153619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 &amp; Aviation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75320" y="2029968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segregation, continuous monitoring, redundant comms.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38679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Railways &amp; Transport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85800" y="4361688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signaling systems, real-time monitoring, annual drills.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9768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480560" y="38679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Plants &amp; Energy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480560" y="4361688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ICS/SCADA, quarterly assessments, backup control centers.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9244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275320" y="38679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Data Centers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275320" y="4361688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standards, SIEM monitoring, geo-redundant sites.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Cybersecurity Law of VIT's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 &amp; Education — "Secure VIT's 2035"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67512" y="160020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4"/>
          <p:cNvSpPr/>
          <p:nvPr/>
        </p:nvSpPr>
        <p:spPr>
          <a:xfrm>
            <a:off x="667512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7512" y="2075688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(Age 6–18)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7512" y="274320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safety, phishing awareness, cyber ethics &amp; CTF competitions across age bands.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61488" y="141732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26080" y="160020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9"/>
          <p:cNvSpPr/>
          <p:nvPr/>
        </p:nvSpPr>
        <p:spPr>
          <a:xfrm>
            <a:off x="292608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926080" y="2075688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26080" y="274320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cybersecurity courses, certification tracks &amp; dedicated security labs.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0056" y="141732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184648" y="160020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4"/>
          <p:cNvSpPr/>
          <p:nvPr/>
        </p:nvSpPr>
        <p:spPr>
          <a:xfrm>
            <a:off x="5184648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184648" y="2075688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Training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84648" y="274320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New-hire training in 30 days; refreshers twice yearly; 80% pass requirement.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278624" y="141732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43216" y="160020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19"/>
          <p:cNvSpPr/>
          <p:nvPr/>
        </p:nvSpPr>
        <p:spPr>
          <a:xfrm>
            <a:off x="7443216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43216" y="2075688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Campaigns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443216" y="274320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themes: phishing, password protection, deepfake awareness.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537192" y="141732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701784" y="160020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7" name="Text 24"/>
          <p:cNvSpPr/>
          <p:nvPr/>
        </p:nvSpPr>
        <p:spPr>
          <a:xfrm>
            <a:off x="9701784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701784" y="2075688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Workshops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701784" y="2743200"/>
            <a:ext cx="1792224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community sessions monthly (urban) / quarterly (rural) for all citizens.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Cybersecurity Law of VIT's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Cooperation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67512" y="1600200"/>
            <a:ext cx="365760" cy="36576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7" name="Text 4"/>
          <p:cNvSpPr/>
          <p:nvPr/>
        </p:nvSpPr>
        <p:spPr>
          <a:xfrm>
            <a:off x="667512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7512" y="2075688"/>
            <a:ext cx="17922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Investigations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7512" y="2834640"/>
            <a:ext cx="179222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units, MLATs &amp; diplomatic channels for cross-border cases.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61488" y="141732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26080" y="1600200"/>
            <a:ext cx="365760" cy="36576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2" name="Text 9"/>
          <p:cNvSpPr/>
          <p:nvPr/>
        </p:nvSpPr>
        <p:spPr>
          <a:xfrm>
            <a:off x="292608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926080" y="2075688"/>
            <a:ext cx="17922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Sharing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26080" y="2834640"/>
            <a:ext cx="179222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Bilateral/multilateral agreements on threat intel &amp; vulnerabilities.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0056" y="141732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184648" y="1600200"/>
            <a:ext cx="365760" cy="36576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7" name="Text 14"/>
          <p:cNvSpPr/>
          <p:nvPr/>
        </p:nvSpPr>
        <p:spPr>
          <a:xfrm>
            <a:off x="5184648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184648" y="2075688"/>
            <a:ext cx="17922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Operations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84648" y="2834640"/>
            <a:ext cx="179222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action with foreign CERTs against ransomware &amp; botnets.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278624" y="141732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43216" y="1600200"/>
            <a:ext cx="365760" cy="36576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2" name="Text 19"/>
          <p:cNvSpPr/>
          <p:nvPr/>
        </p:nvSpPr>
        <p:spPr>
          <a:xfrm>
            <a:off x="7443216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43216" y="2075688"/>
            <a:ext cx="17922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Extradition Requests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443216" y="2834640"/>
            <a:ext cx="179222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Pursued for cyber terrorism, large-scale fraud &amp; infrastructure attacks.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537192" y="141732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701784" y="1600200"/>
            <a:ext cx="365760" cy="365760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7" name="Text 24"/>
          <p:cNvSpPr/>
          <p:nvPr/>
        </p:nvSpPr>
        <p:spPr>
          <a:xfrm>
            <a:off x="9701784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701784" y="2075688"/>
            <a:ext cx="17922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Exchange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701784" y="2834640"/>
            <a:ext cx="179222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IOC and malware-signature sharing via secure channels.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Cybersecurity Law of VIT's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Studies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1371600"/>
            <a:ext cx="361188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3716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University Data Breach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19659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/ Data Theft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2286000"/>
            <a:ext cx="3246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Ex-contractor stole 50,000 students' records using a dormant admin account.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" y="4069080"/>
            <a:ext cx="3246120" cy="9144"/>
          </a:xfrm>
          <a:prstGeom prst="rect">
            <a:avLst/>
          </a:prstGeom>
          <a:solidFill>
            <a:srgbClr val="D9DEE7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42062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PUNISHMENT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85800" y="44805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yrs imprisonment + ₹1,500,000 fine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97680" y="13716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97680" y="1371600"/>
            <a:ext cx="361188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2"/>
          <p:cNvSpPr/>
          <p:nvPr/>
        </p:nvSpPr>
        <p:spPr>
          <a:xfrm>
            <a:off x="4480560" y="13716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FakeBank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480560" y="19659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/ Financial Fraud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480560" y="2286000"/>
            <a:ext cx="3246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scam against bank customers; ₹80,000,000 stolen via fake site &amp; OTP theft.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480560" y="4069080"/>
            <a:ext cx="3246120" cy="9144"/>
          </a:xfrm>
          <a:prstGeom prst="rect">
            <a:avLst/>
          </a:prstGeom>
          <a:solidFill>
            <a:srgbClr val="D9DEE7"/>
          </a:solidFill>
          <a:ln/>
        </p:spPr>
      </p:sp>
      <p:sp>
        <p:nvSpPr>
          <p:cNvPr id="19" name="Text 16"/>
          <p:cNvSpPr/>
          <p:nvPr/>
        </p:nvSpPr>
        <p:spPr>
          <a:xfrm>
            <a:off x="4480560" y="42062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PUNISHMENT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480560" y="44805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yrs imprisonment + ₹3,000,000 fine each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092440" y="13716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92440" y="1371600"/>
            <a:ext cx="361188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3" name="Text 20"/>
          <p:cNvSpPr/>
          <p:nvPr/>
        </p:nvSpPr>
        <p:spPr>
          <a:xfrm>
            <a:off x="8275320" y="13716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Blackout Storm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275320" y="19659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/ Cyber Terrorism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275320" y="2286000"/>
            <a:ext cx="3246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crippled the National Power Grid, affecting 2 million citizens.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275320" y="4069080"/>
            <a:ext cx="3246120" cy="9144"/>
          </a:xfrm>
          <a:prstGeom prst="rect">
            <a:avLst/>
          </a:prstGeom>
          <a:solidFill>
            <a:srgbClr val="D9DEE7"/>
          </a:solidFill>
          <a:ln/>
        </p:spPr>
      </p:sp>
      <p:sp>
        <p:nvSpPr>
          <p:cNvPr id="27" name="Text 24"/>
          <p:cNvSpPr/>
          <p:nvPr/>
        </p:nvSpPr>
        <p:spPr>
          <a:xfrm>
            <a:off x="8275320" y="42062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PUNISHMENT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275320" y="44805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yrs imprisonment + ₹10,000,000 fine each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Cybersecurity Law of VIT's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8404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15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143000" y="5669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Recommendations (2025–2035)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002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7512" y="210312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67512" y="2788920"/>
            <a:ext cx="1792224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AI audits, human oversight of critical decisions, national AI safety certification.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761488" y="141732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60020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926080" y="210312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2926080" y="2788920"/>
            <a:ext cx="1792224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Quantum Security Program; migration to post-quantum cryptography by 2030.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020056" y="141732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160020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84648" y="210312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Protection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5184648" y="2788920"/>
            <a:ext cx="1792224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anonymity online, limits on behavioral profiling, extended right to be forgotten.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7278624" y="141732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160020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443216" y="210312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Identity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7443216" y="2788920"/>
            <a:ext cx="1792224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identity systems, zero-knowledge proofs, alternatives for low-tech citizens.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9537192" y="141732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F4F7FB"/>
          </a:solidFill>
          <a:ln w="9525">
            <a:solidFill>
              <a:srgbClr val="E3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8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1784" y="160020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701784" y="210312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Warfare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9701784" y="2788920"/>
            <a:ext cx="1792224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 defense strategy, 4-level incident classification, national cyber reserve force.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Cybersecurity Law of VIT's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4572000" cy="457200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2704" y="13716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Safer Digital Future for VIT's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2976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Areeba Ashfaque Ahmed Khan   •   Juveriya Mohd. Shuaib Khan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46634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Law Committee  |  Cybersecurity Law &amp; Policy  |  VIT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Cybersecurity Law of VIT's</dc:title>
  <dc:subject>PptxGenJS Presentation</dc:subject>
  <dc:creator>Areeba Ashfaque Ahmed Khan &amp; Juveriya Mohd. Shuaib Khan</dc:creator>
  <cp:lastModifiedBy>Areeba Ashfaque Ahmed Khan &amp; Juveriya Mohd. Shuaib Khan</cp:lastModifiedBy>
  <cp:revision>1</cp:revision>
  <dcterms:created xsi:type="dcterms:W3CDTF">2026-06-20T01:33:26Z</dcterms:created>
  <dcterms:modified xsi:type="dcterms:W3CDTF">2026-06-20T01:33:26Z</dcterms:modified>
</cp:coreProperties>
</file>